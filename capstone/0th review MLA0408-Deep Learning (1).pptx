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76" r:id="rId4"/>
    <p:sldId id="259" r:id="rId5"/>
    <p:sldId id="258" r:id="rId6"/>
    <p:sldId id="277" r:id="rId7"/>
    <p:sldId id="274" r:id="rId8"/>
    <p:sldId id="271" r:id="rId9"/>
    <p:sldId id="273" r:id="rId10"/>
    <p:sldId id="272" r:id="rId11"/>
    <p:sldId id="279" r:id="rId12"/>
    <p:sldId id="262" r:id="rId13"/>
    <p:sldId id="269" r:id="rId14"/>
    <p:sldId id="270" r:id="rId15"/>
    <p:sldId id="278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88571-67A0-425E-DDE7-EC4146A2446C}" v="89" dt="2026-07-25T04:13:41.644"/>
    <p1510:client id="{97F0CBB9-F083-4A98-B396-BA82EA065AF1}" v="54" dt="2026-07-25T05:12:03.502"/>
    <p1510:client id="{E97D3CCE-F97A-46C0-A519-60523D306CCD}" v="254" dt="2026-07-23T05:51:56.428"/>
    <p1510:client id="{F0182755-403E-4788-A763-272A56206FBE}" v="179" dt="2026-07-25T03:54:22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7600" y="4760265"/>
            <a:ext cx="3751635" cy="160300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Presented by</a:t>
            </a: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Nalipi Reddy Rohith(192425115)</a:t>
            </a:r>
            <a:endParaRPr lang="nl-NL">
              <a:latin typeface="Calibri"/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fi-FI" sz="2000" i="0">
                <a:effectLst/>
                <a:latin typeface="Times New Roman"/>
                <a:cs typeface="Times New Roman"/>
              </a:rPr>
              <a:t>G.J.D.Sai Sharan </a:t>
            </a:r>
            <a:r>
              <a:rPr lang="nl-NL" sz="2000">
                <a:latin typeface="Times New Roman"/>
                <a:cs typeface="Times New Roman"/>
              </a:rPr>
              <a:t>(</a:t>
            </a:r>
            <a:r>
              <a:rPr lang="en-US" sz="2000" i="0">
                <a:effectLst/>
                <a:latin typeface="Times New Roman"/>
                <a:cs typeface="Times New Roman"/>
              </a:rPr>
              <a:t>192425152</a:t>
            </a:r>
            <a:r>
              <a:rPr lang="nl-NL" sz="2000">
                <a:latin typeface="Times New Roman"/>
                <a:cs typeface="Times New Roman"/>
              </a:rPr>
              <a:t>)</a:t>
            </a:r>
            <a:endParaRPr lang="nl-NL"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K Giridhar (192425160)</a:t>
            </a:r>
            <a:endParaRPr lang="nl-NL"/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S Syed Abuzar(192425384)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37" y="383744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0829" y="380491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9980" y="2804568"/>
            <a:ext cx="9882820" cy="1118255"/>
          </a:xfrm>
          <a:prstGeom prst="rect">
            <a:avLst/>
          </a:prstGeom>
        </p:spPr>
        <p:txBody>
          <a:bodyPr vert="horz" wrap="square" lIns="0" tIns="132080" rIns="0" bIns="0" rtlCol="0" anchor="t">
            <a:spAutoFit/>
          </a:bodyPr>
          <a:lstStyle/>
          <a:p>
            <a:pPr algn="ctr"/>
            <a:r>
              <a:rPr lang="en-US" sz="3200" b="1">
                <a:latin typeface="Times New Roman"/>
                <a:ea typeface="+mn-lt"/>
                <a:cs typeface="Times New Roman"/>
              </a:rPr>
              <a:t>AI-Powered Personal Finance Management and Budget Recommendation System Using Deep 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0718" y="5061482"/>
            <a:ext cx="3303593" cy="10041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Guided</a:t>
            </a:r>
            <a:r>
              <a:rPr lang="en-IN" sz="2000" b="1" spc="-114">
                <a:solidFill>
                  <a:schemeClr val="accent2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25">
                <a:solidFill>
                  <a:schemeClr val="accent2"/>
                </a:solidFill>
                <a:latin typeface="Times New Roman"/>
                <a:cs typeface="Times New Roman"/>
              </a:rPr>
              <a:t>By</a:t>
            </a:r>
            <a:endParaRPr lang="en-IN" sz="2000">
              <a:solidFill>
                <a:schemeClr val="accent2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Dr. Sudhagar</a:t>
            </a: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Professor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3642" y="380491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>
                <a:latin typeface="Times New Roman"/>
                <a:cs typeface="Times New Roman"/>
              </a:rPr>
              <a:t>SIMATS</a:t>
            </a:r>
            <a:r>
              <a:rPr sz="2800" spc="-125">
                <a:latin typeface="Times New Roman"/>
                <a:cs typeface="Times New Roman"/>
              </a:rPr>
              <a:t> </a:t>
            </a:r>
            <a:r>
              <a:rPr sz="2800" spc="-1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1528" y="815340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55">
                <a:latin typeface="Times New Roman"/>
                <a:cs typeface="Times New Roman"/>
              </a:rPr>
              <a:t>SAVEETHA</a:t>
            </a:r>
            <a:r>
              <a:rPr sz="2000" b="1" spc="-11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INSTITUTE</a:t>
            </a:r>
            <a:r>
              <a:rPr sz="2000" b="1">
                <a:latin typeface="Times New Roman"/>
                <a:cs typeface="Times New Roman"/>
              </a:rPr>
              <a:t> OF</a:t>
            </a:r>
            <a:r>
              <a:rPr sz="2000" b="1" spc="-75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MEDICAL</a:t>
            </a:r>
            <a:r>
              <a:rPr sz="2000" b="1" spc="-220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AND TECHNICAL</a:t>
            </a:r>
            <a:r>
              <a:rPr sz="2000" b="1" spc="-5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SCIENCES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2FA20-DEC4-B709-56FA-73B120CC7D72}"/>
              </a:ext>
            </a:extLst>
          </p:cNvPr>
          <p:cNvSpPr txBox="1"/>
          <p:nvPr/>
        </p:nvSpPr>
        <p:spPr>
          <a:xfrm>
            <a:off x="82629" y="2393389"/>
            <a:ext cx="118934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800" b="1">
                <a:latin typeface="Times New Roman"/>
                <a:ea typeface="Calibri"/>
                <a:cs typeface="Times New Roman"/>
              </a:rPr>
              <a:t>MLA0408 - DEEP LEARNING</a:t>
            </a:r>
            <a:endParaRPr lang="en-US" sz="28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45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600" y="2930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INTRODUCTION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867" y="1713208"/>
            <a:ext cx="10318206" cy="4736585"/>
          </a:xfr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Managing personal finances can be challenging due to multiple income sources, expenses, and financial commitments.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Users often struggle to track spending, control unnecessary expenses, and maintain a balanced budget.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Unexpected expenses, changing financial goals, and irregular income can make financial planning difficult.</a:t>
            </a:r>
          </a:p>
          <a:p>
            <a:pPr marL="0" indent="0" algn="just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Our solution: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Develop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AI-Powered Personal Finance Management and Budget Recommendation System Using Deep Learning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Analyze users' income, expenses, and transaction history using deep learning techniques.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Help users achieve better financial planning, improve savings, and make smarter financial decisions.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814-33A4-FEC2-F217-9E9BA9B9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DDD3-BDB5-54FC-383A-64EDFC98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32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SDG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6154-29AB-BDAA-FAB5-D09E86E8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577" y="1532587"/>
            <a:ext cx="9016102" cy="491156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1: No Poverty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    Supports better financial planning and savings, helping users improve their financial security and reduce the risk of debt.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8: Decent Work and Economic Growth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Promotes responsible financial management, encouraging better budgeting, saving habits, and economic well-being.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9: Industry, Innovation and Infrastructure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Applies Deep Learning and intelligent financial analytics to deliver innovative and personalized budget recommendations.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12: Responsible Consumption and Production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Encourages responsible spending by analyzing user expenses and suggesting optimized budgeting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70FE1-BB97-0C89-A5F7-A14760B043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C8614-A612-1426-6F81-E2FAB27790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51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689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B04EB76-F393-B4CA-0246-85FA28E07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929561"/>
              </p:ext>
            </p:extLst>
          </p:nvPr>
        </p:nvGraphicFramePr>
        <p:xfrm>
          <a:off x="609600" y="1715913"/>
          <a:ext cx="11167868" cy="4693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91967">
                  <a:extLst>
                    <a:ext uri="{9D8B030D-6E8A-4147-A177-3AD203B41FA5}">
                      <a16:colId xmlns:a16="http://schemas.microsoft.com/office/drawing/2014/main" val="1284150004"/>
                    </a:ext>
                  </a:extLst>
                </a:gridCol>
                <a:gridCol w="2791967">
                  <a:extLst>
                    <a:ext uri="{9D8B030D-6E8A-4147-A177-3AD203B41FA5}">
                      <a16:colId xmlns:a16="http://schemas.microsoft.com/office/drawing/2014/main" val="1469792003"/>
                    </a:ext>
                  </a:extLst>
                </a:gridCol>
                <a:gridCol w="2791967">
                  <a:extLst>
                    <a:ext uri="{9D8B030D-6E8A-4147-A177-3AD203B41FA5}">
                      <a16:colId xmlns:a16="http://schemas.microsoft.com/office/drawing/2014/main" val="4270839780"/>
                    </a:ext>
                  </a:extLst>
                </a:gridCol>
                <a:gridCol w="2791967">
                  <a:extLst>
                    <a:ext uri="{9D8B030D-6E8A-4147-A177-3AD203B41FA5}">
                      <a16:colId xmlns:a16="http://schemas.microsoft.com/office/drawing/2014/main" val="3035751096"/>
                    </a:ext>
                  </a:extLst>
                </a:gridCol>
              </a:tblGrid>
              <a:tr h="212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Author / Year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Method / Topic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Key Findings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300736"/>
                  </a:ext>
                </a:extLst>
              </a:tr>
              <a:tr h="52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J. Smith et al., 2022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Deep Learning-Based Personal Finance Management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Applied deep learning to analyze spending patterns and predict expenses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Limited personalization for diverse user profiles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53758"/>
                  </a:ext>
                </a:extLst>
              </a:tr>
              <a:tr h="52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A. Kumar et al., 2023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AI-Powered Budget Recommendation System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Generated personalized budget plans based on transaction history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Performance depends on the quality of financial data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79111"/>
                  </a:ext>
                </a:extLst>
              </a:tr>
              <a:tr h="52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R. Singh et al., 2024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Expense Prediction Using LSTM Networks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Improved future expense forecasting using time-series analysis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Reduced accuracy with irregular spending behavior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86771"/>
                  </a:ext>
                </a:extLst>
              </a:tr>
              <a:tr h="52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L. Chen et al., 2023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Intelligent Financial Behavior Analysis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Identified spending habits and detected unusual transactions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High computational requirements for large datasets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58826"/>
                  </a:ext>
                </a:extLst>
              </a:tr>
              <a:tr h="52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latin typeface="Times New Roman"/>
                          <a:cs typeface="Times New Roman"/>
                        </a:rPr>
                        <a:t>M. Sharma et al., 2025</a:t>
                      </a:r>
                      <a:endParaRPr lang="en-US" sz="17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Smart Personal Finance Assistant Using Deep Learning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Combined expense prediction, budgeting, and financial recommendations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/>
                          <a:cs typeface="Times New Roman"/>
                        </a:rPr>
                        <a:t>Limited integration with multiple banking and payment platforms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717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PROBLEM IDENTIFICATION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399" y="1996376"/>
            <a:ext cx="10347294" cy="4420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Managing personal finances has become increasingly challenging due to multiple income sources and daily digital transactions.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Users often struggle to track expenses, control unnecessary spending, and maintain an effective budget.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Existing budgeting applications mainly rely on manual inputs and provide limited personalized financial insights.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Unexpected expenses, irregular income, and changing financial goals make financial planning difficult.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There is no intelligent system that uses deep learning to analyze spending behavior, predict future expenses and provide personalized budget recommendations.</a:t>
            </a:r>
          </a:p>
          <a:p>
            <a:pPr algn="just"/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64F9-BD33-D053-1623-7DBBC4E8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3EB3-8216-1654-E9F1-1F6F89D9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OBJECTIVES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DA75-80D4-AC68-6708-018E274E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23" y="1994423"/>
            <a:ext cx="10977819" cy="4021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develop a 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Deep Learning-Based Smart Personal Finance Management and Budget Recommendation System</a:t>
            </a:r>
            <a:r>
              <a:rPr lang="en-US" sz="2000">
                <a:latin typeface="Times New Roman"/>
                <a:ea typeface="+mn-lt"/>
                <a:cs typeface="Times New Roman"/>
              </a:rPr>
              <a:t>. 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analyze users' income, expenses, savings, and transaction history using deep learning techniques. 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provide personalized budget recommendations based on individual spending patterns and financial goals. 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predict future expenses and identify unnecessary spending through intelligent financial analysis. 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help users improve savings, manage expenses efficiently, and achieve better financial planning. 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000">
                <a:latin typeface="Times New Roman"/>
                <a:ea typeface="+mn-lt"/>
                <a:cs typeface="Times New Roman"/>
              </a:rPr>
              <a:t>To enhance financial decision-making by delivering accurate insights, automated recommendations, and real-time spending analysis.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8D46-4638-F5D7-7319-8A9038C683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E00836-E12B-C0AD-53D3-80C2B18D43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096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54F1-D8A5-42C8-A1A4-00CB131C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7D21-34CD-145D-DB39-6B6CF053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SYSTEM ARCHITECTURE</a:t>
            </a:r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E7676-51D9-76D7-9A25-40EC0F9C77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F5171-E578-7FA1-961A-F29ED27BAA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4B7513-3393-ABA1-12FE-7FE206DA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29" r="-119" b="917"/>
          <a:stretch>
            <a:fillRect/>
          </a:stretch>
        </p:blipFill>
        <p:spPr>
          <a:xfrm>
            <a:off x="1491385" y="1537745"/>
            <a:ext cx="9475404" cy="46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3E44-EFEC-E159-A120-4D5837BA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D136-BCC9-ADF1-2953-C0BE42F7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12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/>
                <a:ea typeface="+mj-lt"/>
                <a:cs typeface="Times New Roman"/>
              </a:rPr>
              <a:t>MODULE 1: USER &amp; FINANCIAL DATA MANAGEMENT</a:t>
            </a:r>
            <a:endParaRPr lang="en-US" sz="24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135A4-743B-8B47-635F-37AEF19EF9D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C4514-718A-5DE7-B19A-0748405E65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4605E-079B-97BE-5CD1-E439065A4809}"/>
              </a:ext>
            </a:extLst>
          </p:cNvPr>
          <p:cNvSpPr txBox="1"/>
          <p:nvPr/>
        </p:nvSpPr>
        <p:spPr>
          <a:xfrm>
            <a:off x="276849" y="1831957"/>
            <a:ext cx="7383799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 To collect, store, organize, and manage user and financial data for secure, accurate, and personalized financial management.</a:t>
            </a:r>
            <a:endParaRPr lang="en-US" sz="2200">
              <a:latin typeface="Times New Roman"/>
              <a:cs typeface="Times New Roman"/>
            </a:endParaRPr>
          </a:p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Collect user details: profile, income, expenses, savings, and financial goals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Store financial records in a structured database for efficient access and categorize transactions into income, expenses, investments, and bills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Validate and clean financial data to ensure accuracy and consistency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Maintain organized financial information for quick retrieval and analysis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15F3F-201B-471D-2224-54DCF5C835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1" t="2994" r="158"/>
          <a:stretch>
            <a:fillRect/>
          </a:stretch>
        </p:blipFill>
        <p:spPr>
          <a:xfrm>
            <a:off x="7737856" y="1715786"/>
            <a:ext cx="4287871" cy="47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E9BC-40C0-7F1B-369E-E7E9C108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A3B8-48D6-36F1-F530-AC682F9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796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200" b="1">
                <a:latin typeface="Times New Roman"/>
                <a:ea typeface="+mj-lt"/>
                <a:cs typeface="Times New Roman"/>
              </a:rPr>
              <a:t>MODULE 2: SMART EXPENSE CLASSIFICATION &amp; ANALYTICS</a:t>
            </a:r>
            <a:endParaRPr lang="en-US" sz="22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EEAC8-5071-D8B1-8590-C9D67533EFD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21739-6438-CF34-8159-896FFBCCACD5}"/>
              </a:ext>
            </a:extLst>
          </p:cNvPr>
          <p:cNvSpPr txBox="1"/>
          <p:nvPr/>
        </p:nvSpPr>
        <p:spPr>
          <a:xfrm>
            <a:off x="415422" y="1717116"/>
            <a:ext cx="6764660" cy="4593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5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50" b="1">
                <a:latin typeface="Times New Roman"/>
                <a:ea typeface="+mn-lt"/>
                <a:cs typeface="Times New Roman"/>
              </a:rPr>
            </a:br>
            <a:r>
              <a:rPr lang="en-US" sz="2250">
                <a:latin typeface="Times New Roman"/>
                <a:ea typeface="+mn-lt"/>
                <a:cs typeface="Times New Roman"/>
              </a:rPr>
              <a:t> To automatically classify financial transactions and analyze spending patterns for better budgeting and financial decision-making.</a:t>
            </a:r>
          </a:p>
          <a:p>
            <a:r>
              <a:rPr lang="en-US" sz="225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5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Collect and process user transaction data from multiple sources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Automatically classify expenses into categories such as food, transport, shopping, healthcare, and bills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Analyze spending trends using statistical and visual analytics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Detect unusual or excessive spending patterns through intelligent analysis </a:t>
            </a:r>
            <a:endParaRPr lang="en-US" sz="225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9FB3F-3EE8-020B-5E99-B0BC4194A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5" r="4005"/>
          <a:stretch>
            <a:fillRect/>
          </a:stretch>
        </p:blipFill>
        <p:spPr>
          <a:xfrm>
            <a:off x="7221004" y="2195126"/>
            <a:ext cx="4553634" cy="3823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4294F-79A1-CB1F-7D4F-443B676BB8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0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82BC-2B1D-6A17-B9D3-AB3476E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2D5F-1FBA-A32B-A3FA-2844B6AA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23" y="390875"/>
            <a:ext cx="109728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latin typeface="Times New Roman"/>
                <a:ea typeface="+mj-lt"/>
                <a:cs typeface="Times New Roman"/>
              </a:rPr>
              <a:t>MODULE 3</a:t>
            </a:r>
            <a:br>
              <a:rPr lang="en-US" sz="2000" b="1" dirty="0">
                <a:latin typeface="Times New Roman"/>
                <a:ea typeface="+mj-lt"/>
                <a:cs typeface="Times New Roman"/>
              </a:rPr>
            </a:br>
            <a:r>
              <a:rPr lang="en-US" sz="2000" b="1" dirty="0">
                <a:latin typeface="Times New Roman"/>
                <a:ea typeface="+mj-lt"/>
                <a:cs typeface="Times New Roman"/>
              </a:rPr>
              <a:t>DEEP LEARNING-BASED BUDGET PREDICTION &amp; </a:t>
            </a:r>
            <a:r>
              <a:rPr lang="en-US" sz="2000" b="1" dirty="0" err="1">
                <a:latin typeface="Times New Roman"/>
                <a:ea typeface="+mj-lt"/>
                <a:cs typeface="Times New Roman"/>
              </a:rPr>
              <a:t>RECOMMENDATION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20B3-F750-419F-D08C-66A251F0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78" y="1712056"/>
            <a:ext cx="7506072" cy="45602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200" b="1">
                <a:latin typeface="Times New Roman"/>
                <a:ea typeface="+mn-lt"/>
                <a:cs typeface="Times New Roman"/>
              </a:rPr>
            </a:br>
            <a:r>
              <a:rPr lang="en-IN" sz="2200">
                <a:latin typeface="Times New Roman"/>
                <a:ea typeface="+mn-lt"/>
                <a:cs typeface="Times New Roman"/>
              </a:rPr>
              <a:t>To predict future expenses and provide personalized budget recommendations using deep learning for effective financial planning.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200">
              <a:latin typeface="Times New Roman"/>
              <a:ea typeface="+mn-lt"/>
              <a:cs typeface="Times New Roman"/>
            </a:endParaRP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Collect historical income, expense, and savings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Preprocess and normalize the financial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Predict future expenses using the </a:t>
            </a:r>
            <a:r>
              <a:rPr lang="en-IN" sz="2200" b="1">
                <a:latin typeface="Times New Roman"/>
                <a:ea typeface="+mn-lt"/>
                <a:cs typeface="Times New Roman"/>
              </a:rPr>
              <a:t>LSTM</a:t>
            </a:r>
            <a:r>
              <a:rPr lang="en-IN" sz="2200">
                <a:latin typeface="Times New Roman"/>
                <a:ea typeface="+mn-lt"/>
                <a:cs typeface="Times New Roman"/>
              </a:rPr>
              <a:t> deep learning model.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Generate personalized budget recommendations based on predictions.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Continuously improve prediction accuracy with new transaction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2DB7E-B668-F305-9941-184762EA348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48AB4-CD9C-9D96-1967-28737FF919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BA7EA-0914-0920-30F3-C0DF11C44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46" y="1662673"/>
            <a:ext cx="36004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A744-279A-3E9E-43FA-F50239BF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29D4-32CD-D451-2F14-FA2C43F2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34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IN" sz="2800" b="1">
                <a:latin typeface="Times New Roman"/>
                <a:ea typeface="+mj-lt"/>
                <a:cs typeface="Times New Roman"/>
              </a:rPr>
              <a:t>Module 4: Financial Health Monitoring &amp; Reporting</a:t>
            </a:r>
            <a:endParaRPr lang="en-US" sz="28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678D7-E906-5CFD-5417-355C5B19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08" y="2048232"/>
            <a:ext cx="7534086" cy="40447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400" b="1">
                <a:latin typeface="Times New Roman"/>
                <a:ea typeface="+mn-lt"/>
                <a:cs typeface="Times New Roman"/>
              </a:rPr>
            </a:br>
            <a:r>
              <a:rPr lang="en-IN" sz="2400">
                <a:latin typeface="Times New Roman"/>
                <a:ea typeface="+mn-lt"/>
                <a:cs typeface="Times New Roman"/>
              </a:rPr>
              <a:t>To monitor users' financial health and generate reports for better financial planning and decision-making.</a:t>
            </a:r>
            <a:endParaRPr lang="en-US" sz="24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400">
              <a:latin typeface="Times New Roman"/>
              <a:ea typeface="+mn-lt"/>
              <a:cs typeface="Times New Roman"/>
            </a:endParaRP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Track income, expenses, savings, and investments.</a:t>
            </a:r>
          </a:p>
          <a:p>
            <a:r>
              <a:rPr lang="en-IN" sz="2400" err="1">
                <a:latin typeface="Times New Roman"/>
                <a:ea typeface="+mn-lt"/>
                <a:cs typeface="Times New Roman"/>
              </a:rPr>
              <a:t>Analyze</a:t>
            </a:r>
            <a:r>
              <a:rPr lang="en-IN" sz="2400">
                <a:latin typeface="Times New Roman"/>
                <a:ea typeface="+mn-lt"/>
                <a:cs typeface="Times New Roman"/>
              </a:rPr>
              <a:t> financial health using key financial indicators.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Detect unusual spending and budget deviations.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Generate visual reports and financial summaries.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Provide insights to improve overall financial well-being.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B2C2D-698C-522E-57E3-55D4B7FD51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52C2F-D538-3181-552C-66A722937E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Mobile Banking Platform Redesign | BDS Solutions">
            <a:extLst>
              <a:ext uri="{FF2B5EF4-FFF2-40B4-BE49-F238E27FC236}">
                <a16:creationId xmlns:a16="http://schemas.microsoft.com/office/drawing/2014/main" id="{FFC109AA-95F9-B230-F6A7-AEE2E2B87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59" r="22457" b="197"/>
          <a:stretch>
            <a:fillRect/>
          </a:stretch>
        </p:blipFill>
        <p:spPr>
          <a:xfrm>
            <a:off x="7917544" y="2240061"/>
            <a:ext cx="4117640" cy="367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8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IMPLEMENTATION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1B86-AD41-AEA3-A54E-683F53FB9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IMPLEMENTATION</a:t>
            </a:r>
            <a:endParaRPr lang="en-IN"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009D1-5CD1-DEA6-DBDF-2A9B53E761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38C1BC-0591-15F1-F40C-FB8820F206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20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1F2-14FB-B444-7DC8-61CC500E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>
                <a:latin typeface="Times New Roman"/>
                <a:cs typeface="Times New Roman"/>
              </a:rPr>
              <a:t>OUTPUT</a:t>
            </a:r>
            <a:endParaRPr lang="en-IN" sz="36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E9D6-FB17-F0AB-AABA-555E334A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21F847-47B3-D96B-91FD-3B34054403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84136-6C65-43A3-B99D-043E6C2A6F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59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2512-007B-C588-9A34-D69D8426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30E1-403F-1A82-D8DA-72A1D629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293339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ea typeface="+mj-lt"/>
                <a:cs typeface="Times New Roman"/>
              </a:rPr>
              <a:t>RESULT AND DISCUSSION</a:t>
            </a:r>
            <a:endParaRPr lang="en-US" sz="3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F2483-9807-4D23-8205-4F4B4C7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99" y="1441928"/>
            <a:ext cx="10134685" cy="488791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68362-E47A-5C11-55C4-E75C1AC22AB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A0E65-8D57-AF73-AB5A-C8B3DB9E67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79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CHALLENGES &amp; LIMITATIONS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0462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0400" y="2019001"/>
            <a:ext cx="8968128" cy="32270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400" dirty="0">
              <a:latin typeface="Times New Roman"/>
              <a:ea typeface="+mn-lt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765" y="1534525"/>
            <a:ext cx="9850279" cy="4828097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IN" sz="2000" dirty="0">
              <a:ea typeface="Calibri"/>
              <a:cs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4638"/>
            <a:ext cx="10972800" cy="1143000"/>
          </a:xfrm>
        </p:spPr>
        <p:txBody>
          <a:bodyPr>
            <a:normAutofit/>
          </a:bodyPr>
          <a:lstStyle/>
          <a:p>
            <a:r>
              <a:rPr sz="5400" b="1" i="1">
                <a:latin typeface="Times New Roman"/>
                <a:cs typeface="Times New Roman"/>
              </a:rPr>
              <a:t>Thank You!</a:t>
            </a:r>
            <a:endParaRPr lang="en-US" sz="5400" b="1" i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SIMATS ENGINEERING</vt:lpstr>
      <vt:lpstr>INTRODUCTION</vt:lpstr>
      <vt:lpstr>SDG MAPPING</vt:lpstr>
      <vt:lpstr>LITERATURE REVIEW</vt:lpstr>
      <vt:lpstr>PROBLEM IDENTIFICATION</vt:lpstr>
      <vt:lpstr>OBJECTIVES</vt:lpstr>
      <vt:lpstr>SYSTEM ARCHITECTURE</vt:lpstr>
      <vt:lpstr>MODULE 1: USER &amp; FINANCIAL DATA MANAGEMENT</vt:lpstr>
      <vt:lpstr>MODULE 2: SMART EXPENSE CLASSIFICATION &amp; ANALYTICS</vt:lpstr>
      <vt:lpstr>MODULE 3 DEEP LEARNING-BASED BUDGET PREDICTION &amp; RECOMMENDATION</vt:lpstr>
      <vt:lpstr>Module 4: Financial Health Monitoring &amp; Reporting</vt:lpstr>
      <vt:lpstr>IMPLEMENTATION</vt:lpstr>
      <vt:lpstr>IMPLEMENTATION</vt:lpstr>
      <vt:lpstr>OUTPUT</vt:lpstr>
      <vt:lpstr>RESULT AND DISCUSSION</vt:lpstr>
      <vt:lpstr>CHALLENGES &amp; LIMITATIONS</vt:lpstr>
      <vt:lpstr>FUTURE ENHANCEMENTS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revision>26</cp:revision>
  <dcterms:created xsi:type="dcterms:W3CDTF">2013-01-27T09:14:16Z</dcterms:created>
  <dcterms:modified xsi:type="dcterms:W3CDTF">2026-07-25T05:12:08Z</dcterms:modified>
  <cp:category/>
</cp:coreProperties>
</file>