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7" r:id="rId3"/>
    <p:sldId id="276" r:id="rId4"/>
    <p:sldId id="259" r:id="rId5"/>
    <p:sldId id="258" r:id="rId6"/>
    <p:sldId id="277" r:id="rId7"/>
    <p:sldId id="274" r:id="rId8"/>
    <p:sldId id="271" r:id="rId9"/>
    <p:sldId id="273" r:id="rId10"/>
    <p:sldId id="272" r:id="rId11"/>
    <p:sldId id="279" r:id="rId12"/>
    <p:sldId id="262" r:id="rId13"/>
    <p:sldId id="270" r:id="rId14"/>
    <p:sldId id="278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CEF42-BD78-49DD-91BF-6D7D682D1888}" v="30" dt="2026-09-03T08:23:07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67600" y="4760265"/>
            <a:ext cx="3751635" cy="160300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>
                <a:solidFill>
                  <a:schemeClr val="accent2"/>
                </a:solidFill>
                <a:latin typeface="Times New Roman"/>
                <a:cs typeface="Times New Roman"/>
              </a:rPr>
              <a:t>Presented by</a:t>
            </a:r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Nalipi Reddy Rohith(192425115)</a:t>
            </a:r>
            <a:endParaRPr lang="nl-NL">
              <a:latin typeface="Calibri"/>
              <a:ea typeface="Calibri"/>
              <a:cs typeface="Calibri"/>
            </a:endParaRPr>
          </a:p>
          <a:p>
            <a:pPr marL="12700" algn="just">
              <a:spcBef>
                <a:spcPts val="100"/>
              </a:spcBef>
            </a:pPr>
            <a:r>
              <a:rPr lang="fi-FI" sz="2000" i="0">
                <a:effectLst/>
                <a:latin typeface="Times New Roman"/>
                <a:cs typeface="Times New Roman"/>
              </a:rPr>
              <a:t>G.J.D.Sai Sharan </a:t>
            </a:r>
            <a:r>
              <a:rPr lang="nl-NL" sz="2000">
                <a:latin typeface="Times New Roman"/>
                <a:cs typeface="Times New Roman"/>
              </a:rPr>
              <a:t>(</a:t>
            </a:r>
            <a:r>
              <a:rPr lang="en-US" sz="2000" i="0">
                <a:effectLst/>
                <a:latin typeface="Times New Roman"/>
                <a:cs typeface="Times New Roman"/>
              </a:rPr>
              <a:t>192425152</a:t>
            </a:r>
            <a:r>
              <a:rPr lang="nl-NL" sz="2000">
                <a:latin typeface="Times New Roman"/>
                <a:cs typeface="Times New Roman"/>
              </a:rPr>
              <a:t>)</a:t>
            </a:r>
            <a:endParaRPr lang="nl-NL">
              <a:ea typeface="Calibri"/>
              <a:cs typeface="Calibri"/>
            </a:endParaRPr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K Giridhar (192425160)</a:t>
            </a:r>
            <a:endParaRPr lang="nl-NL"/>
          </a:p>
          <a:p>
            <a:pPr marL="12700" algn="just">
              <a:spcBef>
                <a:spcPts val="100"/>
              </a:spcBef>
            </a:pPr>
            <a:r>
              <a:rPr lang="nl-NL" sz="2000">
                <a:latin typeface="Times New Roman"/>
                <a:cs typeface="Times New Roman"/>
              </a:rPr>
              <a:t>S Syed Abuzar(192425384)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9337" y="383744"/>
            <a:ext cx="1135115" cy="134288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00829" y="380491"/>
            <a:ext cx="1520112" cy="134288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9980" y="2804568"/>
            <a:ext cx="9882820" cy="1118255"/>
          </a:xfrm>
          <a:prstGeom prst="rect">
            <a:avLst/>
          </a:prstGeom>
        </p:spPr>
        <p:txBody>
          <a:bodyPr vert="horz" wrap="square" lIns="0" tIns="132080" rIns="0" bIns="0" rtlCol="0" anchor="t">
            <a:spAutoFit/>
          </a:bodyPr>
          <a:lstStyle/>
          <a:p>
            <a:pPr algn="ctr"/>
            <a:r>
              <a:rPr lang="en-US" sz="3200" b="1">
                <a:latin typeface="Times New Roman"/>
                <a:ea typeface="+mn-lt"/>
                <a:cs typeface="Times New Roman"/>
              </a:rPr>
              <a:t>AI-Powered Personal Finance Management and Budget Recommendation System Using Deep 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50718" y="5061482"/>
            <a:ext cx="3303593" cy="1004186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IN" sz="2000" b="1">
                <a:solidFill>
                  <a:schemeClr val="accent2"/>
                </a:solidFill>
                <a:latin typeface="Times New Roman"/>
                <a:cs typeface="Times New Roman"/>
              </a:rPr>
              <a:t>Guided</a:t>
            </a:r>
            <a:r>
              <a:rPr lang="en-IN" sz="2000" b="1" spc="-114">
                <a:solidFill>
                  <a:schemeClr val="accent2"/>
                </a:solidFill>
                <a:latin typeface="Times New Roman"/>
                <a:cs typeface="Times New Roman"/>
              </a:rPr>
              <a:t> </a:t>
            </a:r>
            <a:r>
              <a:rPr lang="en-IN" sz="2000" b="1" spc="-25">
                <a:solidFill>
                  <a:schemeClr val="accent2"/>
                </a:solidFill>
                <a:latin typeface="Times New Roman"/>
                <a:cs typeface="Times New Roman"/>
              </a:rPr>
              <a:t>By</a:t>
            </a:r>
            <a:endParaRPr lang="en-IN" sz="2000">
              <a:solidFill>
                <a:schemeClr val="accent2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000">
                <a:latin typeface="Times New Roman"/>
                <a:cs typeface="Times New Roman"/>
              </a:rPr>
              <a:t>Dr. Sudhagar</a:t>
            </a:r>
          </a:p>
          <a:p>
            <a:pPr marL="12700" marR="5080">
              <a:lnSpc>
                <a:spcPct val="106700"/>
              </a:lnSpc>
              <a:spcBef>
                <a:spcPts val="100"/>
              </a:spcBef>
            </a:pPr>
            <a:r>
              <a:rPr lang="en-US" sz="2000">
                <a:latin typeface="Times New Roman"/>
                <a:cs typeface="Times New Roman"/>
              </a:rPr>
              <a:t>Professor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63642" y="380491"/>
            <a:ext cx="4017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>
                <a:latin typeface="Times New Roman"/>
                <a:cs typeface="Times New Roman"/>
              </a:rPr>
              <a:t>SIMATS</a:t>
            </a:r>
            <a:r>
              <a:rPr sz="2800" spc="-125">
                <a:latin typeface="Times New Roman"/>
                <a:cs typeface="Times New Roman"/>
              </a:rPr>
              <a:t> </a:t>
            </a:r>
            <a:r>
              <a:rPr sz="2800" spc="-10">
                <a:latin typeface="Times New Roman"/>
                <a:cs typeface="Times New Roman"/>
              </a:rPr>
              <a:t>ENGINEERING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91528" y="815340"/>
            <a:ext cx="51022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00000"/>
              </a:lnSpc>
              <a:spcBef>
                <a:spcPts val="100"/>
              </a:spcBef>
            </a:pPr>
            <a:r>
              <a:rPr sz="2000" b="1" spc="-55">
                <a:latin typeface="Times New Roman"/>
                <a:cs typeface="Times New Roman"/>
              </a:rPr>
              <a:t>SAVEETHA</a:t>
            </a:r>
            <a:r>
              <a:rPr sz="2000" b="1" spc="-110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INSTITUTE</a:t>
            </a:r>
            <a:r>
              <a:rPr sz="2000" b="1">
                <a:latin typeface="Times New Roman"/>
                <a:cs typeface="Times New Roman"/>
              </a:rPr>
              <a:t> OF</a:t>
            </a:r>
            <a:r>
              <a:rPr sz="2000" b="1" spc="-75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MEDICAL</a:t>
            </a:r>
            <a:r>
              <a:rPr sz="2000" b="1" spc="-220">
                <a:latin typeface="Times New Roman"/>
                <a:cs typeface="Times New Roman"/>
              </a:rPr>
              <a:t> </a:t>
            </a:r>
            <a:r>
              <a:rPr sz="2000" b="1" spc="-25">
                <a:latin typeface="Times New Roman"/>
                <a:cs typeface="Times New Roman"/>
              </a:rPr>
              <a:t>AND TECHNICAL</a:t>
            </a:r>
            <a:r>
              <a:rPr sz="2000" b="1" spc="-55">
                <a:latin typeface="Times New Roman"/>
                <a:cs typeface="Times New Roman"/>
              </a:rPr>
              <a:t> </a:t>
            </a:r>
            <a:r>
              <a:rPr sz="2000" b="1" spc="-10">
                <a:latin typeface="Times New Roman"/>
                <a:cs typeface="Times New Roman"/>
              </a:rPr>
              <a:t>SCIENCES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22FA20-DEC4-B709-56FA-73B120CC7D72}"/>
              </a:ext>
            </a:extLst>
          </p:cNvPr>
          <p:cNvSpPr txBox="1"/>
          <p:nvPr/>
        </p:nvSpPr>
        <p:spPr>
          <a:xfrm>
            <a:off x="82629" y="2393389"/>
            <a:ext cx="1189342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800" b="1">
                <a:latin typeface="Times New Roman"/>
                <a:ea typeface="Calibri"/>
                <a:cs typeface="Times New Roman"/>
              </a:rPr>
              <a:t>MLA0408 - DEEP LEARNING</a:t>
            </a:r>
            <a:endParaRPr lang="en-US" sz="28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04542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600" y="2930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INTRODUCTION</a:t>
            </a:r>
            <a:endParaRPr sz="3600" b="1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867" y="1713208"/>
            <a:ext cx="10318206" cy="4736585"/>
          </a:xfr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Managing personal finances can be challenging due to multiple income sources, expenses, and financial commitments.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Users often struggle to track spending, control unnecessary expenses, and maintain a balanced budget.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Unexpected expenses, changing financial goals, and irregular income can make financial planning difficult.</a:t>
            </a:r>
          </a:p>
          <a:p>
            <a:pPr marL="0" indent="0" algn="just"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Our solution: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Develop </a:t>
            </a:r>
            <a:r>
              <a:rPr lang="en-US" sz="2000" err="1">
                <a:latin typeface="Times New Roman"/>
                <a:ea typeface="+mn-lt"/>
                <a:cs typeface="Times New Roman"/>
              </a:rPr>
              <a:t>a</a:t>
            </a:r>
            <a:r>
              <a:rPr lang="en-US" sz="2000">
                <a:latin typeface="Times New Roman"/>
                <a:ea typeface="+mn-lt"/>
                <a:cs typeface="Times New Roman"/>
              </a:rPr>
              <a:t>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AI-Powered Personal Finance Management and Budget Recommendation System Using Deep Learning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Analyze users' income, expenses, and transaction history using deep learning techniques.</a:t>
            </a:r>
          </a:p>
          <a:p>
            <a:pPr algn="just"/>
            <a:r>
              <a:rPr lang="en-US" sz="2000">
                <a:latin typeface="Times New Roman"/>
                <a:ea typeface="+mn-lt"/>
                <a:cs typeface="Times New Roman"/>
              </a:rPr>
              <a:t>Help users achieve better financial planning, improve savings, and make smarter financial decisions.</a:t>
            </a:r>
            <a:endParaRPr lang="en-US" sz="20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4814-33A4-FEC2-F217-9E9BA9B9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DDD3-BDB5-54FC-383A-64EDFC98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632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SDG MAPPING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F6154-29AB-BDAA-FAB5-D09E86E83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1577" y="1532587"/>
            <a:ext cx="9016102" cy="491156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1: No Poverty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US" sz="2200">
                <a:latin typeface="Times New Roman"/>
                <a:ea typeface="+mn-lt"/>
                <a:cs typeface="Times New Roman"/>
              </a:rPr>
              <a:t>    Supports better financial planning and savings, helping users improve their financial security and reduce the risk of debt.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8: Decent Work and Economic Growth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Promotes responsible financial management, encouraging better budgeting, saving habits, and economic well-being.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9: Industry, Innovation and Infrastructure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Applies Deep Learning and intelligent financial analytics to deliver innovative and personalized budget recommendations.</a:t>
            </a:r>
            <a:endParaRPr lang="en-US" sz="22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2200" b="1">
                <a:latin typeface="Times New Roman"/>
                <a:ea typeface="+mn-lt"/>
                <a:cs typeface="Times New Roman"/>
              </a:rPr>
              <a:t>SDG 12: Responsible Consumption and Production</a:t>
            </a:r>
            <a:br>
              <a:rPr lang="en-US" sz="2200" b="1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Encourages responsible spending by analyzing user expenses and suggesting optimized budgeting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D70FE1-BB97-0C89-A5F7-A14760B0438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C8614-A612-1426-6F81-E2FAB27790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4519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689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LITERATURE REVIEW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900BD13-0A29-266B-DE6B-F1F4A8C4E2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265020"/>
              </p:ext>
            </p:extLst>
          </p:nvPr>
        </p:nvGraphicFramePr>
        <p:xfrm>
          <a:off x="688622" y="1716475"/>
          <a:ext cx="10814302" cy="48853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3055">
                  <a:extLst>
                    <a:ext uri="{9D8B030D-6E8A-4147-A177-3AD203B41FA5}">
                      <a16:colId xmlns:a16="http://schemas.microsoft.com/office/drawing/2014/main" val="3765733904"/>
                    </a:ext>
                  </a:extLst>
                </a:gridCol>
                <a:gridCol w="2596895">
                  <a:extLst>
                    <a:ext uri="{9D8B030D-6E8A-4147-A177-3AD203B41FA5}">
                      <a16:colId xmlns:a16="http://schemas.microsoft.com/office/drawing/2014/main" val="302556445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689955197"/>
                    </a:ext>
                  </a:extLst>
                </a:gridCol>
                <a:gridCol w="2938272">
                  <a:extLst>
                    <a:ext uri="{9D8B030D-6E8A-4147-A177-3AD203B41FA5}">
                      <a16:colId xmlns:a16="http://schemas.microsoft.com/office/drawing/2014/main" val="2833513106"/>
                    </a:ext>
                  </a:extLst>
                </a:gridCol>
              </a:tblGrid>
              <a:tr h="410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Author &amp; Year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Research / Topic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Key Contribution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Limitation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140862"/>
                  </a:ext>
                </a:extLst>
              </a:tr>
              <a:tr h="98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M. Sharma et al., 2025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Smart Personal Finance Assistant Using Deep Learning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Combined expense prediction, budgeting, and financial recommendations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Limited integration with multiple banking and payment platforms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22770"/>
                  </a:ext>
                </a:extLst>
              </a:tr>
              <a:tr h="98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R. Singh et al., 2024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Expense Prediction Using LSTM Networks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Improved future expense forecasting using time-series analysis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Reduced accuracy with irregular spending behavior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945626"/>
                  </a:ext>
                </a:extLst>
              </a:tr>
              <a:tr h="69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A. Kumar et al., 2023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AI-Powered Budget Recommendation System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Generated personalized budget plans based on transaction history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Performance depends on the quality of financial data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127234"/>
                  </a:ext>
                </a:extLst>
              </a:tr>
              <a:tr h="6920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L. Chen et al., 2023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Intelligent Financial Behavior Analysis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Identified spending habits and detected unusual transactions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High computational requirements for large datasets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9160968"/>
                  </a:ext>
                </a:extLst>
              </a:tr>
              <a:tr h="9867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latin typeface="Times New Roman"/>
                          <a:cs typeface="Times New Roman"/>
                        </a:rPr>
                        <a:t>J. Smith et al., 2022</a:t>
                      </a: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Deep Learning-Based Personal Finance Management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Applied deep learning to analyze spending patterns and predict expenses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Limited personalization for diverse user profiles</a:t>
                      </a:r>
                      <a:endParaRPr lang="en-US" sz="16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752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600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/>
                <a:ea typeface="Calibri"/>
                <a:cs typeface="Times New Roman"/>
              </a:rPr>
              <a:t>PROBLEM IDENTIFICATION</a:t>
            </a:r>
            <a:endParaRPr lang="en-US" sz="3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7399" y="1996376"/>
            <a:ext cx="10347294" cy="44209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Managing personal finances has become increasingly challenging due to multiple income sources and daily digital transactions.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Users often struggle to track expenses, control unnecessary spending, and maintain an effective budget.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Existing budgeting applications mainly rely on manual inputs and provide limited personalized financial insights.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Unexpected expenses, irregular income, and changing financial goals make financial planning difficult. </a:t>
            </a:r>
          </a:p>
          <a:p>
            <a:pPr algn="just"/>
            <a:r>
              <a:rPr lang="en-US" sz="2200">
                <a:latin typeface="Times New Roman"/>
                <a:ea typeface="+mn-lt"/>
                <a:cs typeface="Times New Roman"/>
              </a:rPr>
              <a:t>There is no intelligent system that uses deep learning to analyze spending behavior, predict future expenses and provide personalized budget recommendations.</a:t>
            </a:r>
          </a:p>
          <a:p>
            <a:pPr algn="just"/>
            <a:endParaRPr lang="en-US" sz="22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E64F9-BD33-D053-1623-7DBBC4E81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63EB3-8216-1654-E9F1-1F6F89D96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600" y="394638"/>
            <a:ext cx="10972800" cy="1143000"/>
          </a:xfrm>
        </p:spPr>
        <p:txBody>
          <a:bodyPr>
            <a:normAutofit/>
          </a:bodyPr>
          <a:lstStyle/>
          <a:p>
            <a:r>
              <a:rPr lang="en-US" sz="3400" b="1">
                <a:latin typeface="Times New Roman"/>
                <a:ea typeface="Calibri"/>
                <a:cs typeface="Times New Roman"/>
              </a:rPr>
              <a:t>OBJECTIVES</a:t>
            </a:r>
            <a:endParaRPr lang="en-US" sz="3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ADA75-80D4-AC68-6708-018E274E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000" y="1384823"/>
            <a:ext cx="10430308" cy="525209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lnSpc>
                <a:spcPct val="110000"/>
              </a:lnSpc>
              <a:spcBef>
                <a:spcPts val="1000"/>
              </a:spcBef>
              <a:buNone/>
            </a:pP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analyze users' income, expenses, savings, and transaction history using deep learning techniques.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provide personalized budget recommendations based on individual spending patterns and financial goals.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predict future expenses and identify unnecessary spending through intelligent financial analysis.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help users improve savings, manage expenses efficiently, and achieve better financial planning. 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10000"/>
              </a:lnSpc>
              <a:spcBef>
                <a:spcPts val="1000"/>
              </a:spcBef>
            </a:pPr>
            <a:r>
              <a:rPr lang="en-US" sz="2200">
                <a:latin typeface="Times New Roman"/>
                <a:ea typeface="Calibri"/>
                <a:cs typeface="Times New Roman"/>
              </a:rPr>
              <a:t>To enhance financial decision-making by delivering accurate insights, automated recommendations, and real-time spending analysis.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8D46-4638-F5D7-7319-8A9038C6834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E00836-E12B-C0AD-53D3-80C2B18D434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0965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54F1-D8A5-42C8-A1A4-00CB131C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7D21-34CD-145D-DB39-6B6CF053D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30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SYSTEM ARCHITECTURE</a:t>
            </a:r>
            <a:endParaRPr lang="en-US" sz="36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E7676-51D9-76D7-9A25-40EC0F9C777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BF5171-E578-7FA1-961A-F29ED27BAA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4B7513-3393-ABA1-12FE-7FE206DAC7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29" r="-119" b="917"/>
          <a:stretch>
            <a:fillRect/>
          </a:stretch>
        </p:blipFill>
        <p:spPr>
          <a:xfrm>
            <a:off x="1491385" y="1537745"/>
            <a:ext cx="9475404" cy="466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399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3E44-EFEC-E159-A120-4D5837BAD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4D136-BCC9-ADF1-2953-C0BE42F7E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12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2400" b="1">
                <a:latin typeface="Times New Roman"/>
                <a:ea typeface="+mj-lt"/>
                <a:cs typeface="Times New Roman"/>
              </a:rPr>
              <a:t>MODULE 1: USER &amp; FINANCIAL DATA MANAGEMENT</a:t>
            </a:r>
            <a:endParaRPr lang="en-US" sz="2400" b="1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135A4-743B-8B47-635F-37AEF19EF9D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FC4514-718A-5DE7-B19A-0748405E658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94605E-079B-97BE-5CD1-E439065A4809}"/>
              </a:ext>
            </a:extLst>
          </p:cNvPr>
          <p:cNvSpPr txBox="1"/>
          <p:nvPr/>
        </p:nvSpPr>
        <p:spPr>
          <a:xfrm>
            <a:off x="276849" y="1831957"/>
            <a:ext cx="7383799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2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US" sz="2200" b="1" dirty="0">
                <a:latin typeface="Times New Roman"/>
                <a:ea typeface="+mn-lt"/>
                <a:cs typeface="Times New Roman"/>
              </a:rPr>
            </a:br>
            <a:r>
              <a:rPr lang="en-US" sz="2200">
                <a:latin typeface="Times New Roman"/>
                <a:ea typeface="+mn-lt"/>
                <a:cs typeface="Times New Roman"/>
              </a:rPr>
              <a:t>To collect, store, organize, and manage user and financial data 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for secure, accurate, and personalized financial management.</a:t>
            </a:r>
            <a:endParaRPr lang="en-US" sz="2200" dirty="0">
              <a:latin typeface="Times New Roman"/>
              <a:cs typeface="Times New Roman"/>
            </a:endParaRPr>
          </a:p>
          <a:p>
            <a:pPr algn="just"/>
            <a:r>
              <a:rPr lang="en-US" sz="2200" b="1">
                <a:latin typeface="Times New Roman"/>
                <a:ea typeface="+mn-lt"/>
                <a:cs typeface="Times New Roman"/>
              </a:rPr>
              <a:t>Key Steps: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Collect user details: profile, income, expenses, savings, and financial goals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Store financial records in a structured database for efficient access and categorize transactions into income, expenses, investments, and bills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Validate and clean financial data to ensure accuracy and consistency </a:t>
            </a:r>
            <a:endParaRPr lang="en-US" sz="2200">
              <a:latin typeface="Times New Roman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200">
                <a:latin typeface="Times New Roman"/>
                <a:ea typeface="+mn-lt"/>
                <a:cs typeface="Times New Roman"/>
              </a:rPr>
              <a:t>Maintain organized financial information for quick retrieval and analysis</a:t>
            </a:r>
            <a:endParaRPr lang="en-US" sz="2200">
              <a:latin typeface="Times New Roman"/>
              <a:cs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B15F3F-201B-471D-2224-54DCF5C835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531" t="2994" r="158"/>
          <a:stretch>
            <a:fillRect/>
          </a:stretch>
        </p:blipFill>
        <p:spPr>
          <a:xfrm>
            <a:off x="7737856" y="1715786"/>
            <a:ext cx="4287871" cy="472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4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E9BC-40C0-7F1B-369E-E7E9C1086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1A3B8-48D6-36F1-F530-AC682F947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796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US" sz="2200" b="1">
                <a:latin typeface="Times New Roman"/>
                <a:ea typeface="+mj-lt"/>
                <a:cs typeface="Times New Roman"/>
              </a:rPr>
              <a:t>MODULE 2: SMART EXPENSE CLASSIFICATION &amp; ANALYTICS</a:t>
            </a:r>
            <a:endParaRPr lang="en-US" sz="2200" b="1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EEAC8-5071-D8B1-8590-C9D67533EFDB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21739-6438-CF34-8159-896FFBCCACD5}"/>
              </a:ext>
            </a:extLst>
          </p:cNvPr>
          <p:cNvSpPr txBox="1"/>
          <p:nvPr/>
        </p:nvSpPr>
        <p:spPr>
          <a:xfrm>
            <a:off x="415422" y="1717116"/>
            <a:ext cx="6764660" cy="4593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5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US" sz="2250" b="1">
                <a:latin typeface="Times New Roman"/>
                <a:ea typeface="+mn-lt"/>
                <a:cs typeface="Times New Roman"/>
              </a:rPr>
            </a:br>
            <a:r>
              <a:rPr lang="en-US" sz="2250">
                <a:latin typeface="Times New Roman"/>
                <a:ea typeface="+mn-lt"/>
                <a:cs typeface="Times New Roman"/>
              </a:rPr>
              <a:t> To automatically classify financial transactions and analyze spending patterns for better budgeting and financial decision-making.</a:t>
            </a:r>
          </a:p>
          <a:p>
            <a:r>
              <a:rPr lang="en-US" sz="2250" b="1">
                <a:latin typeface="Times New Roman"/>
                <a:ea typeface="+mn-lt"/>
                <a:cs typeface="Times New Roman"/>
              </a:rPr>
              <a:t>Key Steps:</a:t>
            </a:r>
            <a:endParaRPr lang="en-US" sz="2250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Collect and process user transaction data from multiple sources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Automatically classify expenses into categories such as food, transport, shopping, healthcare, and bills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Analyze spending trends using statistical and visual analytics </a:t>
            </a:r>
            <a:endParaRPr lang="en-US" sz="225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250">
                <a:latin typeface="Times New Roman"/>
                <a:ea typeface="+mn-lt"/>
                <a:cs typeface="Times New Roman"/>
              </a:rPr>
              <a:t>Detect unusual or excessive spending patterns through intelligent analysis </a:t>
            </a:r>
            <a:endParaRPr lang="en-US" sz="2250">
              <a:latin typeface="Times New Roman"/>
              <a:cs typeface="Times New Roman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89FB3F-3EE8-020B-5E99-B0BC4194A7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05" r="4005"/>
          <a:stretch>
            <a:fillRect/>
          </a:stretch>
        </p:blipFill>
        <p:spPr>
          <a:xfrm>
            <a:off x="7221004" y="2195126"/>
            <a:ext cx="4553634" cy="38236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44294F-79A1-CB1F-7D4F-443B676BB83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502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682BC-2B1D-6A17-B9D3-AB3476EA9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A2D5F-1FBA-A32B-A3FA-2844B6AA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23" y="390875"/>
            <a:ext cx="10972800" cy="11430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b="1" dirty="0">
                <a:latin typeface="Times New Roman"/>
                <a:ea typeface="+mj-lt"/>
                <a:cs typeface="Times New Roman"/>
              </a:rPr>
              <a:t>MODULE 3</a:t>
            </a:r>
            <a:br>
              <a:rPr lang="en-US" sz="2000" b="1" dirty="0">
                <a:latin typeface="Times New Roman"/>
                <a:ea typeface="+mj-lt"/>
                <a:cs typeface="Times New Roman"/>
              </a:rPr>
            </a:br>
            <a:r>
              <a:rPr lang="en-US" sz="2000" b="1" dirty="0">
                <a:latin typeface="Times New Roman"/>
                <a:ea typeface="+mj-lt"/>
                <a:cs typeface="Times New Roman"/>
              </a:rPr>
              <a:t>DEEP LEARNING-BASED BUDGET PREDICTION &amp; </a:t>
            </a:r>
            <a:r>
              <a:rPr lang="en-US" sz="2000" b="1" dirty="0" err="1">
                <a:latin typeface="Times New Roman"/>
                <a:ea typeface="+mj-lt"/>
                <a:cs typeface="Times New Roman"/>
              </a:rPr>
              <a:t>RECOMMENDATION</a:t>
            </a:r>
            <a:endParaRPr lang="en-US" sz="20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220B3-F750-419F-D08C-66A251F08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78" y="1712056"/>
            <a:ext cx="7506072" cy="456026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IN" sz="22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IN" sz="2200" b="1">
                <a:latin typeface="Times New Roman"/>
                <a:ea typeface="+mn-lt"/>
                <a:cs typeface="Times New Roman"/>
              </a:rPr>
            </a:br>
            <a:r>
              <a:rPr lang="en-IN" sz="2200">
                <a:latin typeface="Times New Roman"/>
                <a:ea typeface="+mn-lt"/>
                <a:cs typeface="Times New Roman"/>
              </a:rPr>
              <a:t>To predict future expenses and provide personalized budget recommendations using deep learning for effective financial planning.</a:t>
            </a:r>
            <a:endParaRPr lang="en-US" sz="22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IN" sz="2200" b="1">
                <a:latin typeface="Times New Roman"/>
                <a:ea typeface="+mn-lt"/>
                <a:cs typeface="Times New Roman"/>
              </a:rPr>
              <a:t>Key Steps:</a:t>
            </a:r>
            <a:endParaRPr lang="en-IN" sz="2200">
              <a:latin typeface="Times New Roman"/>
              <a:ea typeface="+mn-lt"/>
              <a:cs typeface="Times New Roman"/>
            </a:endParaRP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Collect historical income, expense, and savings data.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Preprocess and normalize the financial data.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Predict future expenses using the </a:t>
            </a:r>
            <a:r>
              <a:rPr lang="en-IN" sz="2200" b="1">
                <a:latin typeface="Times New Roman"/>
                <a:ea typeface="+mn-lt"/>
                <a:cs typeface="Times New Roman"/>
              </a:rPr>
              <a:t>LSTM</a:t>
            </a:r>
            <a:r>
              <a:rPr lang="en-IN" sz="2200">
                <a:latin typeface="Times New Roman"/>
                <a:ea typeface="+mn-lt"/>
                <a:cs typeface="Times New Roman"/>
              </a:rPr>
              <a:t> deep learning model.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Generate personalized budget recommendations based on predictions.</a:t>
            </a:r>
          </a:p>
          <a:p>
            <a:r>
              <a:rPr lang="en-IN" sz="2200">
                <a:latin typeface="Times New Roman"/>
                <a:ea typeface="+mn-lt"/>
                <a:cs typeface="Times New Roman"/>
              </a:rPr>
              <a:t>Continuously improve prediction accuracy with new transaction data.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2DB7E-B668-F305-9941-184762EA348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48AB4-CD9C-9D96-1967-28737FF919B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9BA7EA-0914-0920-30F3-C0DF11C44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9746" y="1662673"/>
            <a:ext cx="3600450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34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A744-279A-3E9E-43FA-F50239BF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29D4-32CD-D451-2F14-FA2C43F24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634" y="390875"/>
            <a:ext cx="10972800" cy="1143000"/>
          </a:xfrm>
        </p:spPr>
        <p:txBody>
          <a:bodyPr>
            <a:normAutofit/>
          </a:bodyPr>
          <a:lstStyle/>
          <a:p>
            <a:r>
              <a:rPr lang="en-IN" sz="2800" b="1">
                <a:latin typeface="Times New Roman"/>
                <a:ea typeface="+mj-lt"/>
                <a:cs typeface="Times New Roman"/>
              </a:rPr>
              <a:t>Module 4: Financial Health Monitoring &amp; Reporting</a:t>
            </a:r>
            <a:endParaRPr lang="en-US" sz="28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678D7-E906-5CFD-5417-355C5B19E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08" y="2048232"/>
            <a:ext cx="7534086" cy="404479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Objective:</a:t>
            </a:r>
            <a:br>
              <a:rPr lang="en-IN" sz="2400" b="1">
                <a:latin typeface="Times New Roman"/>
                <a:ea typeface="+mn-lt"/>
                <a:cs typeface="Times New Roman"/>
              </a:rPr>
            </a:br>
            <a:r>
              <a:rPr lang="en-IN" sz="2400">
                <a:latin typeface="Times New Roman"/>
                <a:ea typeface="+mn-lt"/>
                <a:cs typeface="Times New Roman"/>
              </a:rPr>
              <a:t>To monitor users' financial health and generate reports for better financial planning and decision-making.</a:t>
            </a:r>
            <a:endParaRPr lang="en-US" sz="2400">
              <a:latin typeface="Times New Roman"/>
              <a:ea typeface="+mn-lt"/>
              <a:cs typeface="Times New Roman"/>
            </a:endParaRPr>
          </a:p>
          <a:p>
            <a:pPr>
              <a:buNone/>
            </a:pPr>
            <a:r>
              <a:rPr lang="en-IN" sz="2400" b="1">
                <a:latin typeface="Times New Roman"/>
                <a:ea typeface="+mn-lt"/>
                <a:cs typeface="Times New Roman"/>
              </a:rPr>
              <a:t>Key Steps:</a:t>
            </a:r>
            <a:endParaRPr lang="en-IN" sz="2400">
              <a:latin typeface="Times New Roman"/>
              <a:ea typeface="+mn-lt"/>
              <a:cs typeface="Times New Roman"/>
            </a:endParaRP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Track income, expenses, savings, and investments.</a:t>
            </a:r>
          </a:p>
          <a:p>
            <a:r>
              <a:rPr lang="en-IN" sz="2400" err="1">
                <a:latin typeface="Times New Roman"/>
                <a:ea typeface="+mn-lt"/>
                <a:cs typeface="Times New Roman"/>
              </a:rPr>
              <a:t>Analyze</a:t>
            </a:r>
            <a:r>
              <a:rPr lang="en-IN" sz="2400">
                <a:latin typeface="Times New Roman"/>
                <a:ea typeface="+mn-lt"/>
                <a:cs typeface="Times New Roman"/>
              </a:rPr>
              <a:t> financial health using key financial indicators.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Detect unusual spending and budget deviations.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Generate visual reports and financial summaries.</a:t>
            </a:r>
          </a:p>
          <a:p>
            <a:r>
              <a:rPr lang="en-IN" sz="2400">
                <a:latin typeface="Times New Roman"/>
                <a:ea typeface="+mn-lt"/>
                <a:cs typeface="Times New Roman"/>
              </a:rPr>
              <a:t>Provide insights to improve overall financial well-being.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B2C2D-698C-522E-57E3-55D4B7FD513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3D52C2F-D538-3181-552C-66A722937ED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Mobile Banking Platform Redesign | BDS Solutions">
            <a:extLst>
              <a:ext uri="{FF2B5EF4-FFF2-40B4-BE49-F238E27FC236}">
                <a16:creationId xmlns:a16="http://schemas.microsoft.com/office/drawing/2014/main" id="{FFC109AA-95F9-B230-F6A7-AEE2E2B876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59" r="22457" b="197"/>
          <a:stretch>
            <a:fillRect/>
          </a:stretch>
        </p:blipFill>
        <p:spPr>
          <a:xfrm>
            <a:off x="7917544" y="2240061"/>
            <a:ext cx="4117640" cy="3676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86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IMPLEMENTATION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4C51927-C52B-463F-6A9B-3E089D793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392" y="1724429"/>
            <a:ext cx="4593667" cy="48106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88805C-8448-2139-27D3-74C5A14BD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8376" y="1698355"/>
            <a:ext cx="4418839" cy="48109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203DD8-C571-02C8-B4EB-962AE448B3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807" y="1712900"/>
            <a:ext cx="5076813" cy="47939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0395DA-5E97-7669-78FE-68B8ADF2259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52" r="39450" b="-621"/>
          <a:stretch>
            <a:fillRect/>
          </a:stretch>
        </p:blipFill>
        <p:spPr>
          <a:xfrm>
            <a:off x="8556795" y="1704006"/>
            <a:ext cx="3614843" cy="481568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F1F2-14FB-B444-7DC8-61CC500E5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>
                <a:latin typeface="Times New Roman"/>
                <a:cs typeface="Times New Roman"/>
              </a:rPr>
              <a:t>OUTPUT</a:t>
            </a:r>
            <a:endParaRPr lang="en-IN" sz="36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FE9D6-FB17-F0AB-AABA-555E334A2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>
              <a:ea typeface="Calibri"/>
              <a:cs typeface="Calibri"/>
            </a:endParaRPr>
          </a:p>
          <a:p>
            <a:pPr marL="0" indent="0">
              <a:buNone/>
            </a:pPr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21F847-47B3-D96B-91FD-3B34054403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A84136-6C65-43A3-B99D-043E6C2A6F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5385F7-6864-A69F-A67B-B09922622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000" y="1712490"/>
            <a:ext cx="8766000" cy="479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9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A2512-007B-C588-9A34-D69D8426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B30E1-403F-1A82-D8DA-72A1D629D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30" y="394939"/>
            <a:ext cx="10972800" cy="1143000"/>
          </a:xfrm>
        </p:spPr>
        <p:txBody>
          <a:bodyPr>
            <a:normAutofit/>
          </a:bodyPr>
          <a:lstStyle/>
          <a:p>
            <a:r>
              <a:rPr lang="en-US" sz="3000" b="1">
                <a:latin typeface="Times New Roman"/>
                <a:ea typeface="+mj-lt"/>
                <a:cs typeface="Times New Roman"/>
              </a:rPr>
              <a:t>RESULT AND DISCUSSION</a:t>
            </a:r>
            <a:endParaRPr lang="en-US" sz="3000" b="1"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F2483-9807-4D23-8205-4F4B4C7A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143" y="1712861"/>
            <a:ext cx="10134685" cy="488791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>
                <a:latin typeface="Times New Roman"/>
                <a:ea typeface="+mn-lt"/>
                <a:cs typeface="Times New Roman"/>
              </a:rPr>
              <a:t>The proposed system analyzes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income, expenses, and transaction history</a:t>
            </a:r>
            <a:r>
              <a:rPr lang="en-US" sz="2200">
                <a:latin typeface="Times New Roman"/>
                <a:ea typeface="+mn-lt"/>
                <a:cs typeface="Times New Roman"/>
              </a:rPr>
              <a:t> to understand individual financial behavior. </a:t>
            </a: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Deep learning models improve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future expense prediction</a:t>
            </a:r>
            <a:r>
              <a:rPr lang="en-US" sz="2200">
                <a:latin typeface="Times New Roman"/>
                <a:ea typeface="+mn-lt"/>
                <a:cs typeface="Times New Roman"/>
              </a:rPr>
              <a:t> by learning patterns from historical transactions.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Personalized budget recommendations help users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allocate income efficiently</a:t>
            </a:r>
            <a:r>
              <a:rPr lang="en-US" sz="2200" dirty="0">
                <a:latin typeface="Times New Roman"/>
                <a:ea typeface="+mn-lt"/>
                <a:cs typeface="Times New Roman"/>
              </a:rPr>
              <a:t> </a:t>
            </a:r>
            <a:r>
              <a:rPr lang="en-US" sz="2200">
                <a:latin typeface="Times New Roman"/>
                <a:ea typeface="+mn-lt"/>
                <a:cs typeface="Times New Roman"/>
              </a:rPr>
              <a:t>and reduce unnecessary expenditure.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Spending analysis provides insights into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high-expense categories, recurring expenses, and changing financial habits</a:t>
            </a:r>
            <a:r>
              <a:rPr lang="en-US" sz="2200">
                <a:latin typeface="Times New Roman"/>
                <a:ea typeface="+mn-lt"/>
                <a:cs typeface="Times New Roman"/>
              </a:rPr>
              <a:t>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The system can identify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unusual transaction patterns</a:t>
            </a:r>
            <a:r>
              <a:rPr lang="en-US" sz="2200">
                <a:latin typeface="Times New Roman"/>
                <a:ea typeface="+mn-lt"/>
                <a:cs typeface="Times New Roman"/>
              </a:rPr>
              <a:t>, improving financial awareness and monitoring. </a:t>
            </a:r>
            <a:endParaRPr lang="en-US" sz="2200">
              <a:latin typeface="Times New Roman"/>
              <a:cs typeface="Times New Roman"/>
            </a:endParaRPr>
          </a:p>
          <a:p>
            <a:r>
              <a:rPr lang="en-US" sz="2200">
                <a:latin typeface="Times New Roman"/>
                <a:ea typeface="+mn-lt"/>
                <a:cs typeface="Times New Roman"/>
              </a:rPr>
              <a:t>Overall, the results demonstrate that AI can support </a:t>
            </a:r>
            <a:r>
              <a:rPr lang="en-US" sz="2200" b="1">
                <a:latin typeface="Times New Roman"/>
                <a:ea typeface="+mn-lt"/>
                <a:cs typeface="Times New Roman"/>
              </a:rPr>
              <a:t>automated and data-driven personal financial decision-making</a:t>
            </a:r>
            <a:r>
              <a:rPr lang="en-US" sz="2200">
                <a:latin typeface="Times New Roman"/>
                <a:ea typeface="+mn-lt"/>
                <a:cs typeface="Times New Roman"/>
              </a:rPr>
              <a:t>.</a:t>
            </a:r>
            <a:endParaRPr lang="en-US" sz="2200">
              <a:latin typeface="Times New Roman"/>
              <a:cs typeface="Times New Roman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68362-E47A-5C11-55C4-E75C1AC22AB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A0E65-8D57-AF73-AB5A-C8B3DB9E67E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579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CHALLENGES &amp; LIMITATIONS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F4409-12EE-C5A5-69F8-A5344293EDDF}"/>
              </a:ext>
            </a:extLst>
          </p:cNvPr>
          <p:cNvSpPr txBox="1"/>
          <p:nvPr/>
        </p:nvSpPr>
        <p:spPr>
          <a:xfrm>
            <a:off x="1072445" y="1532468"/>
            <a:ext cx="10041466" cy="4939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Data Quality:</a:t>
            </a:r>
            <a:r>
              <a:rPr lang="en-US">
                <a:latin typeface="Times New Roman"/>
                <a:ea typeface="+mn-lt"/>
                <a:cs typeface="Times New Roman"/>
              </a:rPr>
              <a:t> Incomplete, inconsistent, or inaccurate transaction data can reduce prediction accuracy. </a:t>
            </a:r>
            <a:endParaRPr lang="en-US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Irregular Spending:</a:t>
            </a:r>
            <a:r>
              <a:rPr lang="en-US">
                <a:latin typeface="Times New Roman"/>
                <a:ea typeface="+mn-lt"/>
                <a:cs typeface="Times New Roman"/>
              </a:rPr>
              <a:t> Unexpected expenses and changing spending habits make future expense forecasting difficult.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Personalization:</a:t>
            </a:r>
            <a:r>
              <a:rPr lang="en-US">
                <a:latin typeface="Times New Roman"/>
                <a:ea typeface="+mn-lt"/>
                <a:cs typeface="Times New Roman"/>
              </a:rPr>
              <a:t> Different users have different financial goals, income levels, and spending behaviors.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Data Privacy:</a:t>
            </a:r>
            <a:r>
              <a:rPr lang="en-US">
                <a:latin typeface="Times New Roman"/>
                <a:ea typeface="+mn-lt"/>
                <a:cs typeface="Times New Roman"/>
              </a:rPr>
              <a:t> Financial information is highly sensitive and requires strong security and privacy protection.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Platform Integration:</a:t>
            </a:r>
            <a:r>
              <a:rPr lang="en-US">
                <a:latin typeface="Times New Roman"/>
                <a:ea typeface="+mn-lt"/>
                <a:cs typeface="Times New Roman"/>
              </a:rPr>
              <a:t> Connecting with multiple banks, UPI services, and payment platforms can be technically challenging. 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Model Complexity:</a:t>
            </a:r>
            <a:r>
              <a:rPr lang="en-US">
                <a:latin typeface="Times New Roman"/>
                <a:ea typeface="+mn-lt"/>
                <a:cs typeface="Times New Roman"/>
              </a:rPr>
              <a:t> Deep learning models require sufficient training data and computational resources. </a:t>
            </a:r>
            <a:endParaRPr lang="en-US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>
                <a:latin typeface="Times New Roman"/>
                <a:ea typeface="+mn-lt"/>
                <a:cs typeface="Times New Roman"/>
              </a:rPr>
              <a:t>Prediction Accuracy:</a:t>
            </a:r>
            <a:r>
              <a:rPr lang="en-US">
                <a:latin typeface="Times New Roman"/>
                <a:ea typeface="+mn-lt"/>
                <a:cs typeface="Times New Roman"/>
              </a:rPr>
              <a:t> Market changes, unexpected expenses, and limited historical data can affect forecasting performance.</a:t>
            </a:r>
          </a:p>
          <a:p>
            <a:pPr>
              <a:buFont typeface=""/>
              <a:buChar char="•"/>
            </a:pP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90462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b="1">
                <a:latin typeface="Times New Roman"/>
                <a:cs typeface="Times New Roman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8667" y="1827090"/>
            <a:ext cx="9617239" cy="433334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ea typeface="Calibri"/>
                <a:cs typeface="Times New Roman"/>
              </a:rPr>
              <a:t>Integrate with </a:t>
            </a:r>
            <a:r>
              <a:rPr lang="en-US" sz="1800" b="1" dirty="0">
                <a:latin typeface="Times New Roman"/>
                <a:ea typeface="Calibri"/>
                <a:cs typeface="Times New Roman"/>
              </a:rPr>
              <a:t>banks, UPI, credit cards, and digital payment platforms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 for automated </a:t>
            </a:r>
            <a:r>
              <a:rPr lang="en-US" sz="1800" dirty="0" err="1">
                <a:latin typeface="Times New Roman"/>
                <a:ea typeface="Calibri"/>
                <a:cs typeface="Times New Roman"/>
              </a:rPr>
              <a:t>transactioncollection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. 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Implement advanced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LSTM, GRU, and Transformer models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to improve forecasting performance.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Introduce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real-time alerts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for overspending, unusual transactions, and upcoming expenses.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 dirty="0">
                <a:latin typeface="Times New Roman"/>
                <a:ea typeface="Calibri"/>
                <a:cs typeface="Times New Roman"/>
              </a:rPr>
              <a:t>Develop </a:t>
            </a:r>
            <a:r>
              <a:rPr lang="en-US" sz="1800" b="1" dirty="0">
                <a:latin typeface="Times New Roman"/>
                <a:ea typeface="Calibri"/>
                <a:cs typeface="Times New Roman"/>
              </a:rPr>
              <a:t>adaptive budget recommendations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 that change according to income and </a:t>
            </a:r>
            <a:r>
              <a:rPr lang="en-US" sz="1800" err="1">
                <a:latin typeface="Times New Roman"/>
                <a:ea typeface="Calibri"/>
                <a:cs typeface="Times New Roman"/>
              </a:rPr>
              <a:t>spendingbehavior</a:t>
            </a:r>
            <a:r>
              <a:rPr lang="en-US" sz="1800" dirty="0">
                <a:latin typeface="Times New Roman"/>
                <a:ea typeface="Calibri"/>
                <a:cs typeface="Times New Roman"/>
              </a:rPr>
              <a:t>. 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Add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savings and investment recommendations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based on the user's financial goals.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Incorporate an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AI-powered chatbot/voice assistant</a:t>
            </a:r>
            <a:r>
              <a:rPr lang="en-US" sz="1800">
                <a:latin typeface="Times New Roman"/>
                <a:ea typeface="Calibri"/>
                <a:cs typeface="Times New Roman"/>
              </a:rPr>
              <a:t> for interactive financial guidance. 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sz="1800">
                <a:latin typeface="Times New Roman"/>
                <a:ea typeface="Calibri"/>
                <a:cs typeface="Times New Roman"/>
              </a:rPr>
              <a:t>Enhance security using </a:t>
            </a:r>
            <a:r>
              <a:rPr lang="en-US" sz="1800" b="1">
                <a:latin typeface="Times New Roman"/>
                <a:ea typeface="Calibri"/>
                <a:cs typeface="Times New Roman"/>
              </a:rPr>
              <a:t>encryption, authentication, and privacy-preserving techniques</a:t>
            </a:r>
            <a:r>
              <a:rPr lang="en-US" sz="1800">
                <a:latin typeface="Times New Roman"/>
                <a:ea typeface="Calibri"/>
                <a:cs typeface="Times New Roman"/>
              </a:rPr>
              <a:t>.</a:t>
            </a: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ea typeface="Calibri"/>
              <a:cs typeface="Calibri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>
                <a:latin typeface="Times New Roman"/>
                <a:cs typeface="Times New Roman"/>
              </a:rPr>
              <a:t>CONCLUSION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33A62A-34C2-A994-292B-B6947E08CACB}"/>
              </a:ext>
            </a:extLst>
          </p:cNvPr>
          <p:cNvSpPr txBox="1"/>
          <p:nvPr/>
        </p:nvSpPr>
        <p:spPr>
          <a:xfrm>
            <a:off x="1490134" y="1713089"/>
            <a:ext cx="974231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 proposed system provides an </a:t>
            </a:r>
            <a:r>
              <a:rPr lang="en-US" b="1">
                <a:latin typeface="Times New Roman"/>
                <a:cs typeface="Times New Roman"/>
              </a:rPr>
              <a:t>intelligent and personalized approach to personal finance management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It combines </a:t>
            </a:r>
            <a:r>
              <a:rPr lang="en-US" b="1">
                <a:latin typeface="Times New Roman"/>
                <a:cs typeface="Times New Roman"/>
              </a:rPr>
              <a:t>expense prediction, spending analysis, budget planning, and financial recommendations</a:t>
            </a:r>
            <a:r>
              <a:rPr lang="en-US">
                <a:latin typeface="Times New Roman"/>
                <a:cs typeface="Times New Roman"/>
              </a:rPr>
              <a:t> in a unified platform.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Deep learning enables the system to learn from </a:t>
            </a:r>
            <a:r>
              <a:rPr lang="en-US" b="1">
                <a:latin typeface="Times New Roman"/>
                <a:cs typeface="Times New Roman"/>
              </a:rPr>
              <a:t>historical financial patterns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>
                <a:latin typeface="Times New Roman"/>
                <a:cs typeface="Times New Roman"/>
              </a:rPr>
              <a:t>and provide proactive insights.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The solution can help users </a:t>
            </a:r>
            <a:r>
              <a:rPr lang="en-US" b="1">
                <a:latin typeface="Times New Roman"/>
                <a:cs typeface="Times New Roman"/>
              </a:rPr>
              <a:t>control expenses, improve budgeting, increase savings, and make informed decisions</a:t>
            </a:r>
            <a:r>
              <a:rPr lang="en-US">
                <a:latin typeface="Times New Roman"/>
                <a:cs typeface="Times New Roman"/>
              </a:rPr>
              <a:t>.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>
              <a:lnSpc>
                <a:spcPct val="150000"/>
              </a:lnSpc>
              <a:buFont typeface=""/>
              <a:buChar char="•"/>
            </a:pPr>
            <a:r>
              <a:rPr lang="en-US">
                <a:latin typeface="Times New Roman"/>
                <a:cs typeface="Times New Roman"/>
              </a:rPr>
              <a:t>With improved data integration and advanced AI models, the system can evolve into a </a:t>
            </a:r>
            <a:r>
              <a:rPr lang="en-US" b="1">
                <a:latin typeface="Times New Roman"/>
                <a:cs typeface="Times New Roman"/>
              </a:rPr>
              <a:t>comprehensive real-time personal financial assistant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156" y="291571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765" y="2172347"/>
            <a:ext cx="9850279" cy="320814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IN" sz="2000">
                <a:ea typeface="+mn-lt"/>
                <a:cs typeface="+mn-lt"/>
              </a:rPr>
              <a:t>[1] S. Hochreiter and J. Schmidhuber, “Long short-term memory,” </a:t>
            </a:r>
            <a:r>
              <a:rPr lang="en-IN" sz="2000" i="1">
                <a:ea typeface="+mn-lt"/>
                <a:cs typeface="+mn-lt"/>
              </a:rPr>
              <a:t>Neural Computation</a:t>
            </a:r>
            <a:r>
              <a:rPr lang="en-IN" sz="2000">
                <a:ea typeface="+mn-lt"/>
                <a:cs typeface="+mn-lt"/>
              </a:rPr>
              <a:t>, vol. 9, no. 8, pp. 1735–1780, 1997.</a:t>
            </a:r>
            <a:endParaRPr lang="en-IN" sz="2000" dirty="0">
              <a:ea typeface="Calibri"/>
              <a:cs typeface="Calibri"/>
            </a:endParaRPr>
          </a:p>
          <a:p>
            <a:r>
              <a:rPr lang="en-IN" sz="2000">
                <a:ea typeface="+mn-lt"/>
                <a:cs typeface="+mn-lt"/>
              </a:rPr>
              <a:t>[2] I. Goodfellow, Y. Bengio, and A. Courville, </a:t>
            </a:r>
            <a:r>
              <a:rPr lang="en-IN" sz="2000" i="1">
                <a:ea typeface="+mn-lt"/>
                <a:cs typeface="+mn-lt"/>
              </a:rPr>
              <a:t>Deep Learning</a:t>
            </a:r>
            <a:r>
              <a:rPr lang="en-IN" sz="2000">
                <a:ea typeface="+mn-lt"/>
                <a:cs typeface="+mn-lt"/>
              </a:rPr>
              <a:t>. Cambridge, MA, USA: MIT Press, 2016.</a:t>
            </a:r>
            <a:endParaRPr lang="en-IN"/>
          </a:p>
          <a:p>
            <a:r>
              <a:rPr lang="en-IN" sz="2000">
                <a:ea typeface="+mn-lt"/>
                <a:cs typeface="+mn-lt"/>
              </a:rPr>
              <a:t>[3] T. M. Mitchell, </a:t>
            </a:r>
            <a:r>
              <a:rPr lang="en-IN" sz="2000" i="1">
                <a:ea typeface="+mn-lt"/>
                <a:cs typeface="+mn-lt"/>
              </a:rPr>
              <a:t>Machine Learning</a:t>
            </a:r>
            <a:r>
              <a:rPr lang="en-IN" sz="2000">
                <a:ea typeface="+mn-lt"/>
                <a:cs typeface="+mn-lt"/>
              </a:rPr>
              <a:t>. New York, NY, USA: McGraw-Hill, 1997.</a:t>
            </a:r>
            <a:endParaRPr lang="en-IN"/>
          </a:p>
          <a:p>
            <a:r>
              <a:rPr lang="en-IN" sz="2000">
                <a:ea typeface="+mn-lt"/>
                <a:cs typeface="+mn-lt"/>
              </a:rPr>
              <a:t>[4] C. M. Bishop, </a:t>
            </a:r>
            <a:r>
              <a:rPr lang="en-IN" sz="2000" i="1">
                <a:ea typeface="+mn-lt"/>
                <a:cs typeface="+mn-lt"/>
              </a:rPr>
              <a:t>Pattern Recognition and Machine Learning</a:t>
            </a:r>
            <a:r>
              <a:rPr lang="en-IN" sz="2000">
                <a:ea typeface="+mn-lt"/>
                <a:cs typeface="+mn-lt"/>
              </a:rPr>
              <a:t>. New York, NY, USA: Springer, 2006.</a:t>
            </a:r>
            <a:endParaRPr lang="en-IN"/>
          </a:p>
          <a:p>
            <a:r>
              <a:rPr lang="en-IN" sz="2000">
                <a:ea typeface="+mn-lt"/>
                <a:cs typeface="+mn-lt"/>
              </a:rPr>
              <a:t>[5] F. Chollet, </a:t>
            </a:r>
            <a:r>
              <a:rPr lang="en-IN" sz="2000" i="1">
                <a:ea typeface="+mn-lt"/>
                <a:cs typeface="+mn-lt"/>
              </a:rPr>
              <a:t>Deep Learning with Python</a:t>
            </a:r>
            <a:r>
              <a:rPr lang="en-IN" sz="2000">
                <a:ea typeface="+mn-lt"/>
                <a:cs typeface="+mn-lt"/>
              </a:rPr>
              <a:t>, 2nd ed. Shelter Island, NY, USA: Manning Publications, 2021.</a:t>
            </a:r>
            <a:endParaRPr lang="en-IN"/>
          </a:p>
          <a:p>
            <a:endParaRPr lang="en-IN" sz="2000" dirty="0">
              <a:ea typeface="Calibri"/>
              <a:cs typeface="Calibri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94638"/>
            <a:ext cx="10972800" cy="1143000"/>
          </a:xfrm>
        </p:spPr>
        <p:txBody>
          <a:bodyPr>
            <a:normAutofit/>
          </a:bodyPr>
          <a:lstStyle/>
          <a:p>
            <a:r>
              <a:rPr sz="5400" b="1" i="1">
                <a:latin typeface="Times New Roman"/>
                <a:cs typeface="Times New Roman"/>
              </a:rPr>
              <a:t>Thank You!</a:t>
            </a:r>
            <a:endParaRPr lang="en-US" sz="5400" b="1" i="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SIMATS ENGINEERING</vt:lpstr>
      <vt:lpstr>INTRODUCTION</vt:lpstr>
      <vt:lpstr>SDG MAPPING</vt:lpstr>
      <vt:lpstr>LITERATURE REVIEW</vt:lpstr>
      <vt:lpstr>PROBLEM IDENTIFICATION</vt:lpstr>
      <vt:lpstr>OBJECTIVES</vt:lpstr>
      <vt:lpstr>SYSTEM ARCHITECTURE</vt:lpstr>
      <vt:lpstr>MODULE 1: USER &amp; FINANCIAL DATA MANAGEMENT</vt:lpstr>
      <vt:lpstr>MODULE 2: SMART EXPENSE CLASSIFICATION &amp; ANALYTICS</vt:lpstr>
      <vt:lpstr>MODULE 3 DEEP LEARNING-BASED BUDGET PREDICTION &amp; RECOMMENDATION</vt:lpstr>
      <vt:lpstr>Module 4: Financial Health Monitoring &amp; Reporting</vt:lpstr>
      <vt:lpstr>IMPLEMENTATION</vt:lpstr>
      <vt:lpstr>OUTPUT</vt:lpstr>
      <vt:lpstr>RESULT AND DISCUSSION</vt:lpstr>
      <vt:lpstr>CHALLENGES &amp; LIMITATIONS</vt:lpstr>
      <vt:lpstr>FUTURE ENHANCEMENTS</vt:lpstr>
      <vt:lpstr>CONCLUSION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revision>98</cp:revision>
  <dcterms:created xsi:type="dcterms:W3CDTF">2013-01-27T09:14:16Z</dcterms:created>
  <dcterms:modified xsi:type="dcterms:W3CDTF">2026-09-03T08:23:21Z</dcterms:modified>
  <cp:category/>
</cp:coreProperties>
</file>